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952A"/>
    <a:srgbClr val="6D28D9"/>
    <a:srgbClr val="64748B"/>
    <a:srgbClr val="648877"/>
    <a:srgbClr val="B91C1C"/>
    <a:srgbClr val="E05A2B"/>
    <a:srgbClr val="0A2240"/>
    <a:srgbClr val="0D9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94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511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3413455" cy="65589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15614" y="146304"/>
            <a:ext cx="8876081" cy="6558991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62" y="292608"/>
            <a:ext cx="2879446" cy="2889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" y="3413455"/>
            <a:ext cx="3047695" cy="97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240"/>
                </a:solidFill>
              </a:rPr>
              <a:t>Indian Institute of Technology Guwahati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70332" y="4526280"/>
            <a:ext cx="2663647" cy="48463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7452" y="4630623"/>
            <a:ext cx="3047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BSc. (Hons.) Data Science &amp; Artificial Intelligence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Online Degree Programme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5771" y="427025"/>
            <a:ext cx="3047695" cy="463601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93846" y="427025"/>
            <a:ext cx="2770632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240"/>
                </a:solidFill>
              </a:rPr>
              <a:t>TERM PROJECT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588106" y="855370"/>
            <a:ext cx="842893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IndiaClimate: An Interactive Platform for Historical Weather Data Analysis, Visualization, and Forecasting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3609898" y="2624412"/>
            <a:ext cx="8287512" cy="61043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C045A1E-609E-FC2A-5E44-9C1704653AA1}"/>
              </a:ext>
            </a:extLst>
          </p:cNvPr>
          <p:cNvGrpSpPr/>
          <p:nvPr/>
        </p:nvGrpSpPr>
        <p:grpSpPr>
          <a:xfrm>
            <a:off x="3640513" y="2247188"/>
            <a:ext cx="8226281" cy="4766870"/>
            <a:chOff x="3561061" y="2477210"/>
            <a:chExt cx="8226281" cy="4766870"/>
          </a:xfrm>
        </p:grpSpPr>
        <p:sp>
          <p:nvSpPr>
            <p:cNvPr id="14" name="Text 11"/>
            <p:cNvSpPr/>
            <p:nvPr/>
          </p:nvSpPr>
          <p:spPr>
            <a:xfrm>
              <a:off x="3561061" y="2477210"/>
              <a:ext cx="2349968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8952A"/>
                  </a:solidFill>
                </a:rPr>
                <a:t>Student Name :</a:t>
              </a:r>
              <a:endParaRPr lang="en-US" sz="20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5973188" y="2477210"/>
              <a:ext cx="5814154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FFFFFF"/>
                  </a:solidFill>
                </a:rPr>
                <a:t>Nitin Vijay N</a:t>
              </a:r>
              <a:endParaRPr lang="en-US" sz="20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3561061" y="2952232"/>
              <a:ext cx="2349968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8952A"/>
                  </a:solidFill>
                </a:rPr>
                <a:t>Student ID :</a:t>
              </a:r>
              <a:endParaRPr lang="en-US" sz="20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5973188" y="2952232"/>
              <a:ext cx="5814154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FFFFFF"/>
                  </a:solidFill>
                </a:rPr>
                <a:t>23035010571</a:t>
              </a:r>
              <a:endParaRPr lang="en-US" sz="20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3561061" y="3426145"/>
              <a:ext cx="2349968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8952A"/>
                  </a:solidFill>
                </a:rPr>
                <a:t>Email ID :</a:t>
              </a:r>
              <a:endParaRPr lang="en-US" sz="20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5973188" y="3426145"/>
              <a:ext cx="5814154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FFFFFF"/>
                  </a:solidFill>
                </a:rPr>
                <a:t>n.nitin@op.iitg.ac.in</a:t>
              </a:r>
              <a:endParaRPr lang="en-US" sz="20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3561061" y="3901166"/>
              <a:ext cx="2349968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8952A"/>
                  </a:solidFill>
                </a:rPr>
                <a:t>Programme :</a:t>
              </a:r>
              <a:endParaRPr lang="en-US" sz="200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5973188" y="3901166"/>
              <a:ext cx="5814154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FFFFFF"/>
                  </a:solidFill>
                </a:rPr>
                <a:t>BSc. (Hons.) Data Science &amp; AI</a:t>
              </a:r>
              <a:endParaRPr lang="en-US" sz="20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3561061" y="4375079"/>
              <a:ext cx="2349968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8952A"/>
                  </a:solidFill>
                </a:rPr>
                <a:t>Course Code :</a:t>
              </a:r>
              <a:endParaRPr lang="en-US" sz="20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5973188" y="4375079"/>
              <a:ext cx="5814154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FFFFFF"/>
                  </a:solidFill>
                </a:rPr>
                <a:t>DA377</a:t>
              </a:r>
              <a:endParaRPr lang="en-US" sz="20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3561061" y="4850101"/>
              <a:ext cx="2349968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8952A"/>
                  </a:solidFill>
                </a:rPr>
                <a:t>Course Name :</a:t>
              </a:r>
              <a:endParaRPr lang="en-US" sz="200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5973188" y="4850101"/>
              <a:ext cx="5814154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FFFFFF"/>
                  </a:solidFill>
                </a:rPr>
                <a:t>Term Project - I</a:t>
              </a:r>
              <a:endParaRPr lang="en-US" sz="20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3561061" y="5325124"/>
              <a:ext cx="2349968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8952A"/>
                  </a:solidFill>
                </a:rPr>
                <a:t>Trimester :</a:t>
              </a:r>
              <a:endParaRPr lang="en-US" sz="20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5973188" y="5325124"/>
              <a:ext cx="5814154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FFFFFF"/>
                  </a:solidFill>
                </a:rPr>
                <a:t>VII</a:t>
              </a:r>
              <a:endParaRPr lang="en-US" sz="20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921240" y="219456"/>
            <a:ext cx="2057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240"/>
                </a:solidFill>
              </a:rPr>
              <a:t>0:30 – 1:30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240"/>
                </a:solidFill>
              </a:rPr>
              <a:t>What problem did we solve?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9560" y="1572768"/>
            <a:ext cx="3689908" cy="2781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9560" y="1572767"/>
            <a:ext cx="3689908" cy="72121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3671" y="1664208"/>
            <a:ext cx="3494837" cy="494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No integrated platform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3511" y="2148840"/>
            <a:ext cx="3494837" cy="2009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334155"/>
                </a:solidFill>
              </a:rPr>
              <a:t>Tools are either global in scope, behind paywalls, or provide raw CSV downloads with no analysis — no unified open-source India platform existed.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60520" y="1572768"/>
            <a:ext cx="3689908" cy="27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60520" y="1572767"/>
            <a:ext cx="3689908" cy="73570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84471" y="1664208"/>
            <a:ext cx="3494837" cy="494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A2240"/>
                </a:solidFill>
              </a:rPr>
              <a:t>Fragmented data sources</a:t>
            </a:r>
          </a:p>
        </p:txBody>
      </p:sp>
      <p:sp>
        <p:nvSpPr>
          <p:cNvPr id="16" name="Text 14"/>
          <p:cNvSpPr/>
          <p:nvPr/>
        </p:nvSpPr>
        <p:spPr>
          <a:xfrm>
            <a:off x="4274311" y="2148840"/>
            <a:ext cx="3494837" cy="2009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600" dirty="0">
                <a:solidFill>
                  <a:srgbClr val="334155"/>
                </a:solidFill>
              </a:rPr>
              <a:t>IMD 115-year rainfall records and modern daily weather data existed in silos. No pipeline connected them for joint analysis.</a:t>
            </a:r>
          </a:p>
        </p:txBody>
      </p:sp>
      <p:sp>
        <p:nvSpPr>
          <p:cNvPr id="17" name="Shape 15"/>
          <p:cNvSpPr/>
          <p:nvPr/>
        </p:nvSpPr>
        <p:spPr>
          <a:xfrm>
            <a:off x="8031480" y="1572768"/>
            <a:ext cx="3690000" cy="2781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31480" y="1572767"/>
            <a:ext cx="3690000" cy="72121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5111" y="1664208"/>
            <a:ext cx="3494837" cy="494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A2240"/>
                </a:solidFill>
              </a:rPr>
              <a:t>No forecasting layer</a:t>
            </a:r>
          </a:p>
        </p:txBody>
      </p:sp>
      <p:sp>
        <p:nvSpPr>
          <p:cNvPr id="20" name="Text 18"/>
          <p:cNvSpPr/>
          <p:nvPr/>
        </p:nvSpPr>
        <p:spPr>
          <a:xfrm>
            <a:off x="8135111" y="2148840"/>
            <a:ext cx="3494837" cy="2009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600" dirty="0">
                <a:solidFill>
                  <a:srgbClr val="334155"/>
                </a:solidFill>
              </a:rPr>
              <a:t>No publicly available India-specific platform combined historical analysis with probabilistic 90-day city-level forecasting.</a:t>
            </a:r>
          </a:p>
        </p:txBody>
      </p:sp>
      <p:sp>
        <p:nvSpPr>
          <p:cNvPr id="21" name="Shape 19"/>
          <p:cNvSpPr/>
          <p:nvPr/>
        </p:nvSpPr>
        <p:spPr>
          <a:xfrm>
            <a:off x="320040" y="4574032"/>
            <a:ext cx="11521440" cy="1856232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638040"/>
            <a:ext cx="3200400" cy="414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952A"/>
                </a:solidFill>
              </a:rPr>
              <a:t>Why it matters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2920" y="5012943"/>
            <a:ext cx="11064240" cy="12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India's 1.4 billion people face agriculture risk, heat stress, and flood threats directly tied to weather variability. A reproducible, open-source platform that collects, cleans, analyses, visualizes, and forecasts Indian weather data is both scientifically valuable and practically impactful for students, researchers, and policymakers.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Tools &amp; Dataset</a:t>
            </a:r>
          </a:p>
        </p:txBody>
      </p:sp>
      <p:sp>
        <p:nvSpPr>
          <p:cNvPr id="6" name="Text 4"/>
          <p:cNvSpPr/>
          <p:nvPr/>
        </p:nvSpPr>
        <p:spPr>
          <a:xfrm>
            <a:off x="9921240" y="219456"/>
            <a:ext cx="2057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240"/>
                </a:solidFill>
              </a:rPr>
              <a:t>1:30 – 2:30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2412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240"/>
                </a:solidFill>
              </a:rPr>
              <a:t>Tech Stack</a:t>
            </a:r>
            <a:endParaRPr lang="en-US" sz="2000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31C4C14-7549-3A02-E760-9291FA490F47}"/>
              </a:ext>
            </a:extLst>
          </p:cNvPr>
          <p:cNvGrpSpPr/>
          <p:nvPr/>
        </p:nvGrpSpPr>
        <p:grpSpPr>
          <a:xfrm>
            <a:off x="320039" y="1481328"/>
            <a:ext cx="5623548" cy="5202936"/>
            <a:chOff x="320040" y="1481328"/>
            <a:chExt cx="5532120" cy="3108960"/>
          </a:xfrm>
        </p:grpSpPr>
        <p:sp>
          <p:nvSpPr>
            <p:cNvPr id="9" name="Shape 7"/>
            <p:cNvSpPr/>
            <p:nvPr/>
          </p:nvSpPr>
          <p:spPr>
            <a:xfrm>
              <a:off x="320040" y="1481328"/>
              <a:ext cx="269748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320040" y="1481328"/>
              <a:ext cx="91440" cy="694944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484632" y="1527048"/>
              <a:ext cx="24688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9488"/>
                  </a:solidFill>
                </a:rPr>
                <a:t>Python 3.12</a:t>
              </a:r>
              <a:endParaRPr lang="en-US" sz="1600" dirty="0">
                <a:solidFill>
                  <a:srgbClr val="0D9488"/>
                </a:solidFill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484632" y="1847088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Core language for all phases</a:t>
              </a:r>
              <a:endParaRPr lang="en-US" sz="14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154680" y="1481328"/>
              <a:ext cx="269748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3154680" y="1481328"/>
              <a:ext cx="91440" cy="694944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3319272" y="1527048"/>
              <a:ext cx="24688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9488"/>
                  </a:solidFill>
                </a:rPr>
                <a:t>pandas + </a:t>
              </a:r>
              <a:r>
                <a:rPr lang="en-US" sz="1600" b="1" dirty="0" err="1">
                  <a:solidFill>
                    <a:srgbClr val="0D9488"/>
                  </a:solidFill>
                </a:rPr>
                <a:t>numpy</a:t>
              </a:r>
              <a:endParaRPr lang="en-US" sz="1600" b="1" dirty="0">
                <a:solidFill>
                  <a:srgbClr val="0D9488"/>
                </a:solidFill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3319272" y="1847088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Data cleaning &amp; processing</a:t>
              </a:r>
              <a:endParaRPr lang="en-US" sz="14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20040" y="2286000"/>
              <a:ext cx="269748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320040" y="2286000"/>
              <a:ext cx="91440" cy="694944"/>
            </a:xfrm>
            <a:prstGeom prst="rect">
              <a:avLst/>
            </a:prstGeom>
            <a:solidFill>
              <a:srgbClr val="0A2240"/>
            </a:solidFill>
            <a:ln w="12700">
              <a:solidFill>
                <a:srgbClr val="0A2240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84632" y="2331720"/>
              <a:ext cx="24688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A2240"/>
                  </a:solidFill>
                </a:rPr>
                <a:t>SQLite</a:t>
              </a:r>
              <a:endParaRPr lang="en-US" sz="1600" dirty="0">
                <a:solidFill>
                  <a:srgbClr val="0A2240"/>
                </a:solidFill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484632" y="2651760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Relational DB · 3 tables · 45k rows</a:t>
              </a:r>
              <a:endParaRPr lang="en-US" sz="14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154680" y="2286000"/>
              <a:ext cx="269748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3154680" y="2286000"/>
              <a:ext cx="91440" cy="694944"/>
            </a:xfrm>
            <a:prstGeom prst="rect">
              <a:avLst/>
            </a:prstGeom>
            <a:solidFill>
              <a:srgbClr val="B8952A"/>
            </a:solidFill>
            <a:ln w="12700">
              <a:solidFill>
                <a:srgbClr val="B8952A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3319272" y="2331720"/>
              <a:ext cx="24688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B8952A"/>
                  </a:solidFill>
                </a:rPr>
                <a:t>Streamlit + Plotly</a:t>
              </a:r>
              <a:endParaRPr lang="en-US" sz="1600" dirty="0">
                <a:solidFill>
                  <a:srgbClr val="B8952A"/>
                </a:solidFill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3319272" y="2651760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Interactive web dashboard</a:t>
              </a:r>
              <a:endParaRPr lang="en-US" sz="14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20040" y="3090672"/>
              <a:ext cx="269748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320040" y="3090672"/>
              <a:ext cx="91440" cy="694944"/>
            </a:xfrm>
            <a:prstGeom prst="rect">
              <a:avLst/>
            </a:prstGeom>
            <a:solidFill>
              <a:srgbClr val="E05A2B"/>
            </a:solidFill>
            <a:ln w="12700">
              <a:solidFill>
                <a:srgbClr val="E05A2B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484632" y="3136392"/>
              <a:ext cx="24688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E05A2B"/>
                  </a:solidFill>
                </a:rPr>
                <a:t>Folium</a:t>
              </a:r>
              <a:endParaRPr lang="en-US" sz="1600" dirty="0">
                <a:solidFill>
                  <a:srgbClr val="E05A2B"/>
                </a:solidFill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484632" y="3456432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5 geographic HTML maps</a:t>
              </a:r>
              <a:endParaRPr lang="en-US" sz="14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3154680" y="3090672"/>
              <a:ext cx="269748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3154680" y="3090672"/>
              <a:ext cx="91440" cy="694944"/>
            </a:xfrm>
            <a:prstGeom prst="rect">
              <a:avLst/>
            </a:prstGeom>
            <a:solidFill>
              <a:srgbClr val="E05A2B"/>
            </a:solidFill>
            <a:ln w="12700">
              <a:solidFill>
                <a:srgbClr val="E05A2B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3319272" y="3136392"/>
              <a:ext cx="24688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E05A2B"/>
                  </a:solidFill>
                </a:rPr>
                <a:t>Prophet (Facebook)</a:t>
              </a:r>
            </a:p>
          </p:txBody>
        </p:sp>
        <p:sp>
          <p:nvSpPr>
            <p:cNvPr id="32" name="Text 30"/>
            <p:cNvSpPr/>
            <p:nvPr/>
          </p:nvSpPr>
          <p:spPr>
            <a:xfrm>
              <a:off x="3319272" y="3456432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90-day ML forecasting</a:t>
              </a:r>
              <a:endParaRPr lang="en-US" sz="14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320040" y="3895344"/>
              <a:ext cx="269748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320040" y="3895344"/>
              <a:ext cx="91440" cy="694944"/>
            </a:xfrm>
            <a:prstGeom prst="rect">
              <a:avLst/>
            </a:prstGeom>
            <a:solidFill>
              <a:srgbClr val="64748B"/>
            </a:solidFill>
            <a:ln w="12700">
              <a:solidFill>
                <a:srgbClr val="64748B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484632" y="3941064"/>
              <a:ext cx="24688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64748B"/>
                  </a:solidFill>
                </a:rPr>
                <a:t>Matplotlib + Seaborn</a:t>
              </a:r>
              <a:endParaRPr lang="en-US" sz="1600" dirty="0">
                <a:solidFill>
                  <a:srgbClr val="64748B"/>
                </a:solidFill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484632" y="4261104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28 static analysis charts</a:t>
              </a:r>
              <a:endParaRPr lang="en-US" sz="14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3154680" y="3895344"/>
              <a:ext cx="269748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3154680" y="3895344"/>
              <a:ext cx="91440" cy="694944"/>
            </a:xfrm>
            <a:prstGeom prst="rect">
              <a:avLst/>
            </a:prstGeom>
            <a:solidFill>
              <a:srgbClr val="64748B"/>
            </a:solidFill>
            <a:ln w="12700">
              <a:solidFill>
                <a:srgbClr val="64748B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3319272" y="3941064"/>
              <a:ext cx="24688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 err="1">
                  <a:solidFill>
                    <a:srgbClr val="64748B"/>
                  </a:solidFill>
                </a:rPr>
                <a:t>scipy</a:t>
              </a:r>
              <a:endParaRPr lang="en-US" sz="1600" b="1" dirty="0">
                <a:solidFill>
                  <a:srgbClr val="64748B"/>
                </a:solidFill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3319272" y="4261104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Pearson correlation · regression</a:t>
              </a:r>
              <a:endParaRPr lang="en-US" sz="1400" dirty="0"/>
            </a:p>
          </p:txBody>
        </p:sp>
      </p:grpSp>
      <p:sp>
        <p:nvSpPr>
          <p:cNvPr id="41" name="Shape 39"/>
          <p:cNvSpPr/>
          <p:nvPr/>
        </p:nvSpPr>
        <p:spPr>
          <a:xfrm>
            <a:off x="6080760" y="1005840"/>
            <a:ext cx="0" cy="568800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102412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240"/>
                </a:solidFill>
              </a:rPr>
              <a:t>Datasets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6263640" y="1481328"/>
            <a:ext cx="5623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63640" y="1481328"/>
            <a:ext cx="56235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1591056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9488"/>
                </a:solidFill>
              </a:rPr>
              <a:t>Open-Meteo Historical API</a:t>
            </a:r>
          </a:p>
        </p:txBody>
      </p:sp>
      <p:sp>
        <p:nvSpPr>
          <p:cNvPr id="46" name="Text 44"/>
          <p:cNvSpPr/>
          <p:nvPr/>
        </p:nvSpPr>
        <p:spPr>
          <a:xfrm>
            <a:off x="6446520" y="1984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8 cities · 2010–2023 · Daily resolution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446520" y="2258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Temp, precipitation, humidity, wind speed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9829800" y="1992269"/>
            <a:ext cx="1828800" cy="475488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829800" y="1992269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40,904 rows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263640" y="3041904"/>
            <a:ext cx="5623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63640" y="3041904"/>
            <a:ext cx="5623560" cy="64008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46520" y="3151632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B8952A"/>
                </a:solidFill>
              </a:rPr>
              <a:t>IMD Subdivision Rainfall (data.gov.in)</a:t>
            </a:r>
          </a:p>
        </p:txBody>
      </p:sp>
      <p:sp>
        <p:nvSpPr>
          <p:cNvPr id="53" name="Text 51"/>
          <p:cNvSpPr/>
          <p:nvPr/>
        </p:nvSpPr>
        <p:spPr>
          <a:xfrm>
            <a:off x="6446520" y="3544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36 subdivisions · 1901–2015 · Monthly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446520" y="38191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115 years of data — drought/flood analysis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9829800" y="3544824"/>
            <a:ext cx="1828800" cy="475488"/>
          </a:xfrm>
          <a:prstGeom prst="roundRect">
            <a:avLst>
              <a:gd name="adj" fmla="val 19231"/>
            </a:avLst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29800" y="35448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4,116 rows</a:t>
            </a:r>
            <a:endParaRPr lang="en-US" sz="1400" dirty="0"/>
          </a:p>
        </p:txBody>
      </p:sp>
      <p:sp>
        <p:nvSpPr>
          <p:cNvPr id="5" name="Shape 62"/>
          <p:cNvSpPr/>
          <p:nvPr/>
        </p:nvSpPr>
        <p:spPr>
          <a:xfrm>
            <a:off x="6263640" y="6208776"/>
            <a:ext cx="5623560" cy="475488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57" name="Text 63"/>
          <p:cNvSpPr/>
          <p:nvPr/>
        </p:nvSpPr>
        <p:spPr>
          <a:xfrm>
            <a:off x="6263640" y="6198616"/>
            <a:ext cx="5623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952A"/>
                </a:solidFill>
              </a:rPr>
              <a:t>Total: 45,661 records across 3 database tables</a:t>
            </a:r>
            <a:endParaRPr lang="en-US" sz="1600" dirty="0"/>
          </a:p>
        </p:txBody>
      </p:sp>
      <p:sp>
        <p:nvSpPr>
          <p:cNvPr id="58" name="Shape 55">
            <a:extLst>
              <a:ext uri="{FF2B5EF4-FFF2-40B4-BE49-F238E27FC236}">
                <a16:creationId xmlns:a16="http://schemas.microsoft.com/office/drawing/2014/main" id="{AA8B47C7-F98C-50E7-821A-2EAC6EA65E13}"/>
              </a:ext>
            </a:extLst>
          </p:cNvPr>
          <p:cNvSpPr/>
          <p:nvPr/>
        </p:nvSpPr>
        <p:spPr>
          <a:xfrm>
            <a:off x="6263640" y="4602480"/>
            <a:ext cx="5623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Shape 56">
            <a:extLst>
              <a:ext uri="{FF2B5EF4-FFF2-40B4-BE49-F238E27FC236}">
                <a16:creationId xmlns:a16="http://schemas.microsoft.com/office/drawing/2014/main" id="{1259A040-0C02-29AA-3853-936FD5BC526B}"/>
              </a:ext>
            </a:extLst>
          </p:cNvPr>
          <p:cNvSpPr/>
          <p:nvPr/>
        </p:nvSpPr>
        <p:spPr>
          <a:xfrm>
            <a:off x="6263640" y="4602480"/>
            <a:ext cx="5623560" cy="6400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60" name="Text 57">
            <a:extLst>
              <a:ext uri="{FF2B5EF4-FFF2-40B4-BE49-F238E27FC236}">
                <a16:creationId xmlns:a16="http://schemas.microsoft.com/office/drawing/2014/main" id="{FFF06624-7D86-E502-732C-79287294CFE4}"/>
              </a:ext>
            </a:extLst>
          </p:cNvPr>
          <p:cNvSpPr/>
          <p:nvPr/>
        </p:nvSpPr>
        <p:spPr>
          <a:xfrm>
            <a:off x="6446520" y="471220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05A2B"/>
                </a:solidFill>
              </a:rPr>
              <a:t>District Rainfall Normals (IMD)</a:t>
            </a:r>
          </a:p>
        </p:txBody>
      </p:sp>
      <p:sp>
        <p:nvSpPr>
          <p:cNvPr id="61" name="Text 58">
            <a:extLst>
              <a:ext uri="{FF2B5EF4-FFF2-40B4-BE49-F238E27FC236}">
                <a16:creationId xmlns:a16="http://schemas.microsoft.com/office/drawing/2014/main" id="{2CBDC1A3-72B1-5F2F-62DA-BB3CE915A145}"/>
              </a:ext>
            </a:extLst>
          </p:cNvPr>
          <p:cNvSpPr/>
          <p:nvPr/>
        </p:nvSpPr>
        <p:spPr>
          <a:xfrm>
            <a:off x="6446520" y="5105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641 districts · 35 states · Averages</a:t>
            </a:r>
            <a:endParaRPr lang="en-US" sz="1400" dirty="0"/>
          </a:p>
        </p:txBody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3C36DCD0-DAB0-20DE-FC90-E00CFCA2F27D}"/>
              </a:ext>
            </a:extLst>
          </p:cNvPr>
          <p:cNvSpPr/>
          <p:nvPr/>
        </p:nvSpPr>
        <p:spPr>
          <a:xfrm>
            <a:off x="6446520" y="5379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Baseline for anomaly detection</a:t>
            </a:r>
            <a:endParaRPr lang="en-US" sz="1400" dirty="0"/>
          </a:p>
        </p:txBody>
      </p:sp>
      <p:sp>
        <p:nvSpPr>
          <p:cNvPr id="63" name="Shape 60">
            <a:extLst>
              <a:ext uri="{FF2B5EF4-FFF2-40B4-BE49-F238E27FC236}">
                <a16:creationId xmlns:a16="http://schemas.microsoft.com/office/drawing/2014/main" id="{FEFEEDD3-EC0D-215A-8861-938A49D1918F}"/>
              </a:ext>
            </a:extLst>
          </p:cNvPr>
          <p:cNvSpPr/>
          <p:nvPr/>
        </p:nvSpPr>
        <p:spPr>
          <a:xfrm>
            <a:off x="9829800" y="5105400"/>
            <a:ext cx="1828800" cy="475488"/>
          </a:xfrm>
          <a:prstGeom prst="roundRect">
            <a:avLst>
              <a:gd name="adj" fmla="val 19231"/>
            </a:avLst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66" name="Text 61">
            <a:extLst>
              <a:ext uri="{FF2B5EF4-FFF2-40B4-BE49-F238E27FC236}">
                <a16:creationId xmlns:a16="http://schemas.microsoft.com/office/drawing/2014/main" id="{C2C3CECC-3AC7-78EB-D903-42BA674BB1A4}"/>
              </a:ext>
            </a:extLst>
          </p:cNvPr>
          <p:cNvSpPr/>
          <p:nvPr/>
        </p:nvSpPr>
        <p:spPr>
          <a:xfrm>
            <a:off x="9829800" y="5105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641 rows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Code Walkthrough</a:t>
            </a:r>
          </a:p>
        </p:txBody>
      </p:sp>
      <p:sp>
        <p:nvSpPr>
          <p:cNvPr id="6" name="Text 4"/>
          <p:cNvSpPr/>
          <p:nvPr/>
        </p:nvSpPr>
        <p:spPr>
          <a:xfrm>
            <a:off x="9921240" y="219456"/>
            <a:ext cx="2057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240"/>
                </a:solidFill>
              </a:rPr>
              <a:t>2:30 – 5:00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8B2FCA5-7453-1FDC-087E-CF61666DC360}"/>
              </a:ext>
            </a:extLst>
          </p:cNvPr>
          <p:cNvGrpSpPr/>
          <p:nvPr/>
        </p:nvGrpSpPr>
        <p:grpSpPr>
          <a:xfrm>
            <a:off x="78232" y="1920240"/>
            <a:ext cx="12012168" cy="3950208"/>
            <a:chOff x="292608" y="1444752"/>
            <a:chExt cx="11704320" cy="3529584"/>
          </a:xfrm>
        </p:grpSpPr>
        <p:sp>
          <p:nvSpPr>
            <p:cNvPr id="9" name="Shape 7"/>
            <p:cNvSpPr/>
            <p:nvPr/>
          </p:nvSpPr>
          <p:spPr>
            <a:xfrm>
              <a:off x="292608" y="1444752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292608" y="1444752"/>
              <a:ext cx="3840480" cy="64008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402336" y="1609344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402336" y="1609344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1</a:t>
              </a:r>
              <a:endParaRPr lang="en-US" sz="13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914400" y="1626973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9488"/>
                  </a:solidFill>
                </a:rPr>
                <a:t>Data Collection</a:t>
              </a:r>
            </a:p>
          </p:txBody>
        </p:sp>
        <p:sp>
          <p:nvSpPr>
            <p:cNvPr id="14" name="Text 12"/>
            <p:cNvSpPr/>
            <p:nvPr/>
          </p:nvSpPr>
          <p:spPr>
            <a:xfrm>
              <a:off x="402336" y="2066544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fetch_openmeteo.py · retry logic · 8 cities API</a:t>
              </a:r>
              <a:endParaRPr lang="en-US" sz="14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224528" y="1444752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6" name="Shape 14"/>
            <p:cNvSpPr/>
            <p:nvPr/>
          </p:nvSpPr>
          <p:spPr>
            <a:xfrm>
              <a:off x="4224528" y="1444752"/>
              <a:ext cx="3840480" cy="64008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4334256" y="1609344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334256" y="1609344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2</a:t>
              </a:r>
              <a:endParaRPr lang="en-US" sz="13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846320" y="1626973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9488"/>
                  </a:solidFill>
                </a:rPr>
                <a:t>Data Cleaning</a:t>
              </a:r>
            </a:p>
          </p:txBody>
        </p:sp>
        <p:sp>
          <p:nvSpPr>
            <p:cNvPr id="20" name="Text 18"/>
            <p:cNvSpPr/>
            <p:nvPr/>
          </p:nvSpPr>
          <p:spPr>
            <a:xfrm>
              <a:off x="4334256" y="2066544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clean_data.py · outlier cap · season labels</a:t>
              </a:r>
              <a:endParaRPr lang="en-US" sz="14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8156448" y="1444752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2" name="Shape 20"/>
            <p:cNvSpPr/>
            <p:nvPr/>
          </p:nvSpPr>
          <p:spPr>
            <a:xfrm>
              <a:off x="8156448" y="1444752"/>
              <a:ext cx="3840480" cy="64008"/>
            </a:xfrm>
            <a:prstGeom prst="rect">
              <a:avLst/>
            </a:prstGeom>
            <a:solidFill>
              <a:srgbClr val="0A2240"/>
            </a:solidFill>
            <a:ln w="12700">
              <a:solidFill>
                <a:srgbClr val="0A2240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8266176" y="1609344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0A2240"/>
            </a:solidFill>
            <a:ln w="12700">
              <a:solidFill>
                <a:srgbClr val="0A2240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8266176" y="1609344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3</a:t>
              </a:r>
              <a:endParaRPr lang="en-US" sz="13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8778240" y="1626973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A2240"/>
                  </a:solidFill>
                </a:rPr>
                <a:t>Database Design</a:t>
              </a:r>
            </a:p>
          </p:txBody>
        </p:sp>
        <p:sp>
          <p:nvSpPr>
            <p:cNvPr id="26" name="Text 24"/>
            <p:cNvSpPr/>
            <p:nvPr/>
          </p:nvSpPr>
          <p:spPr>
            <a:xfrm>
              <a:off x="8266176" y="2066544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create_database.py · 3 tables · FK constraints</a:t>
              </a:r>
              <a:endParaRPr lang="en-US" sz="14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292608" y="2651760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8" name="Shape 26"/>
            <p:cNvSpPr/>
            <p:nvPr/>
          </p:nvSpPr>
          <p:spPr>
            <a:xfrm>
              <a:off x="292608" y="2651760"/>
              <a:ext cx="3840480" cy="64008"/>
            </a:xfrm>
            <a:prstGeom prst="rect">
              <a:avLst/>
            </a:prstGeom>
            <a:solidFill>
              <a:srgbClr val="B8952A"/>
            </a:solidFill>
            <a:ln w="12700">
              <a:solidFill>
                <a:srgbClr val="B8952A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402336" y="2816352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B8952A"/>
            </a:solidFill>
            <a:ln w="12700">
              <a:solidFill>
                <a:srgbClr val="B8952A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402336" y="2816352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4</a:t>
              </a:r>
              <a:endParaRPr lang="en-US" sz="13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914400" y="2833980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B8952A"/>
                  </a:solidFill>
                </a:rPr>
                <a:t>EDA</a:t>
              </a:r>
            </a:p>
          </p:txBody>
        </p:sp>
        <p:sp>
          <p:nvSpPr>
            <p:cNvPr id="32" name="Text 30"/>
            <p:cNvSpPr/>
            <p:nvPr/>
          </p:nvSpPr>
          <p:spPr>
            <a:xfrm>
              <a:off x="402336" y="3273552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eda.py · 6 charts · temperature + monsoon</a:t>
              </a:r>
              <a:endParaRPr lang="en-US" sz="14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4224528" y="2651760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4" name="Shape 32"/>
            <p:cNvSpPr/>
            <p:nvPr/>
          </p:nvSpPr>
          <p:spPr>
            <a:xfrm>
              <a:off x="4224528" y="2651760"/>
              <a:ext cx="3840480" cy="64008"/>
            </a:xfrm>
            <a:prstGeom prst="rect">
              <a:avLst/>
            </a:prstGeom>
            <a:solidFill>
              <a:srgbClr val="B8952A"/>
            </a:solidFill>
            <a:ln w="12700">
              <a:solidFill>
                <a:srgbClr val="B8952A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4334256" y="2816352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B8952A"/>
            </a:solidFill>
            <a:ln w="12700">
              <a:solidFill>
                <a:srgbClr val="B8952A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4334256" y="2816352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5</a:t>
              </a:r>
              <a:endParaRPr lang="en-US" sz="13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4846320" y="2833980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B8952A"/>
                  </a:solidFill>
                </a:rPr>
                <a:t>Statistical Analysis</a:t>
              </a:r>
            </a:p>
          </p:txBody>
        </p:sp>
        <p:sp>
          <p:nvSpPr>
            <p:cNvPr id="38" name="Text 36"/>
            <p:cNvSpPr/>
            <p:nvPr/>
          </p:nvSpPr>
          <p:spPr>
            <a:xfrm>
              <a:off x="4334256" y="3273552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statistical_analysis.py · correlation · heatwave</a:t>
              </a:r>
              <a:endParaRPr lang="en-US" sz="14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8156448" y="2651760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40" name="Shape 38"/>
            <p:cNvSpPr/>
            <p:nvPr/>
          </p:nvSpPr>
          <p:spPr>
            <a:xfrm>
              <a:off x="8156448" y="2651760"/>
              <a:ext cx="3840480" cy="64008"/>
            </a:xfrm>
            <a:prstGeom prst="rect">
              <a:avLst/>
            </a:prstGeom>
            <a:solidFill>
              <a:srgbClr val="E05A2B"/>
            </a:solidFill>
            <a:ln w="12700">
              <a:solidFill>
                <a:srgbClr val="E05A2B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8266176" y="2816352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E05A2B"/>
            </a:solidFill>
            <a:ln w="12700">
              <a:solidFill>
                <a:srgbClr val="E05A2B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8266176" y="2816352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6</a:t>
              </a:r>
              <a:endParaRPr lang="en-US" sz="13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8778240" y="2833980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 err="1">
                  <a:solidFill>
                    <a:srgbClr val="E05A2B"/>
                  </a:solidFill>
                </a:rPr>
                <a:t>Streamlit</a:t>
              </a:r>
              <a:r>
                <a:rPr lang="en-US" sz="1600" b="1" dirty="0">
                  <a:solidFill>
                    <a:srgbClr val="E05A2B"/>
                  </a:solidFill>
                </a:rPr>
                <a:t> Dashboard</a:t>
              </a:r>
            </a:p>
          </p:txBody>
        </p:sp>
        <p:sp>
          <p:nvSpPr>
            <p:cNvPr id="44" name="Text 42"/>
            <p:cNvSpPr/>
            <p:nvPr/>
          </p:nvSpPr>
          <p:spPr>
            <a:xfrm>
              <a:off x="8266176" y="3273552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app.py · 4 tabs · 11 Plotly charts · CSV export</a:t>
              </a:r>
              <a:endParaRPr lang="en-US" sz="14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292608" y="3858768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46" name="Shape 44"/>
            <p:cNvSpPr/>
            <p:nvPr/>
          </p:nvSpPr>
          <p:spPr>
            <a:xfrm>
              <a:off x="292608" y="3858768"/>
              <a:ext cx="3840480" cy="64008"/>
            </a:xfrm>
            <a:prstGeom prst="rect">
              <a:avLst/>
            </a:prstGeom>
            <a:solidFill>
              <a:srgbClr val="E05A2B"/>
            </a:solidFill>
            <a:ln w="12700">
              <a:solidFill>
                <a:srgbClr val="E05A2B"/>
              </a:solidFill>
              <a:prstDash val="solid"/>
            </a:ln>
          </p:spPr>
        </p:sp>
        <p:sp>
          <p:nvSpPr>
            <p:cNvPr id="47" name="Shape 45"/>
            <p:cNvSpPr/>
            <p:nvPr/>
          </p:nvSpPr>
          <p:spPr>
            <a:xfrm>
              <a:off x="402336" y="4023360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E05A2B"/>
            </a:solidFill>
            <a:ln w="12700">
              <a:solidFill>
                <a:srgbClr val="E05A2B"/>
              </a:solidFill>
              <a:prstDash val="solid"/>
            </a:ln>
          </p:spPr>
        </p:sp>
        <p:sp>
          <p:nvSpPr>
            <p:cNvPr id="48" name="Text 46"/>
            <p:cNvSpPr/>
            <p:nvPr/>
          </p:nvSpPr>
          <p:spPr>
            <a:xfrm>
              <a:off x="402336" y="4023360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7</a:t>
              </a:r>
              <a:endParaRPr lang="en-US" sz="13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914400" y="4040988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E05A2B"/>
                  </a:solidFill>
                </a:rPr>
                <a:t>Folium Maps</a:t>
              </a:r>
            </a:p>
          </p:txBody>
        </p:sp>
        <p:sp>
          <p:nvSpPr>
            <p:cNvPr id="50" name="Text 48"/>
            <p:cNvSpPr/>
            <p:nvPr/>
          </p:nvSpPr>
          <p:spPr>
            <a:xfrm>
              <a:off x="402336" y="4480560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create_maps.py · 5 HTML maps · layer toggle</a:t>
              </a:r>
              <a:endParaRPr lang="en-US" sz="14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4224528" y="3858768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52" name="Shape 50"/>
            <p:cNvSpPr/>
            <p:nvPr/>
          </p:nvSpPr>
          <p:spPr>
            <a:xfrm>
              <a:off x="4224528" y="3858768"/>
              <a:ext cx="3840480" cy="64008"/>
            </a:xfrm>
            <a:prstGeom prst="rect">
              <a:avLst/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</p:sp>
        <p:sp>
          <p:nvSpPr>
            <p:cNvPr id="53" name="Shape 51"/>
            <p:cNvSpPr/>
            <p:nvPr/>
          </p:nvSpPr>
          <p:spPr>
            <a:xfrm>
              <a:off x="4334256" y="4023360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</p:sp>
        <p:sp>
          <p:nvSpPr>
            <p:cNvPr id="54" name="Text 52"/>
            <p:cNvSpPr/>
            <p:nvPr/>
          </p:nvSpPr>
          <p:spPr>
            <a:xfrm>
              <a:off x="4334256" y="4023360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8</a:t>
              </a:r>
              <a:endParaRPr lang="en-US" sz="13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4846320" y="4040988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6D28D9"/>
                  </a:solidFill>
                </a:rPr>
                <a:t>Forecasting</a:t>
              </a:r>
              <a:endParaRPr lang="en-US" sz="1600" dirty="0">
                <a:solidFill>
                  <a:srgbClr val="6D28D9"/>
                </a:solidFill>
              </a:endParaRPr>
            </a:p>
          </p:txBody>
        </p:sp>
        <p:sp>
          <p:nvSpPr>
            <p:cNvPr id="56" name="Text 54"/>
            <p:cNvSpPr/>
            <p:nvPr/>
          </p:nvSpPr>
          <p:spPr>
            <a:xfrm>
              <a:off x="4334256" y="4480560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forecasting.py · 16 Prophet models · 90 days</a:t>
              </a:r>
              <a:endParaRPr lang="en-US" sz="140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8156448" y="3858768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58" name="Shape 56"/>
            <p:cNvSpPr/>
            <p:nvPr/>
          </p:nvSpPr>
          <p:spPr>
            <a:xfrm>
              <a:off x="8156448" y="3858768"/>
              <a:ext cx="3840480" cy="64008"/>
            </a:xfrm>
            <a:prstGeom prst="rect">
              <a:avLst/>
            </a:prstGeom>
            <a:solidFill>
              <a:srgbClr val="64748B"/>
            </a:solidFill>
            <a:ln w="12700">
              <a:solidFill>
                <a:srgbClr val="64748B"/>
              </a:solidFill>
              <a:prstDash val="solid"/>
            </a:ln>
          </p:spPr>
        </p:sp>
        <p:sp>
          <p:nvSpPr>
            <p:cNvPr id="59" name="Shape 57"/>
            <p:cNvSpPr/>
            <p:nvPr/>
          </p:nvSpPr>
          <p:spPr>
            <a:xfrm>
              <a:off x="8266176" y="4023360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64748B"/>
            </a:solidFill>
            <a:ln w="12700">
              <a:solidFill>
                <a:srgbClr val="64748B"/>
              </a:solidFill>
              <a:prstDash val="solid"/>
            </a:ln>
          </p:spPr>
        </p:sp>
        <p:sp>
          <p:nvSpPr>
            <p:cNvPr id="60" name="Text 58"/>
            <p:cNvSpPr/>
            <p:nvPr/>
          </p:nvSpPr>
          <p:spPr>
            <a:xfrm>
              <a:off x="8266176" y="4023360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9</a:t>
              </a:r>
              <a:endParaRPr lang="en-US" sz="1300" dirty="0"/>
            </a:p>
          </p:txBody>
        </p:sp>
        <p:sp>
          <p:nvSpPr>
            <p:cNvPr id="61" name="Text 59"/>
            <p:cNvSpPr/>
            <p:nvPr/>
          </p:nvSpPr>
          <p:spPr>
            <a:xfrm>
              <a:off x="8778240" y="4040988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64748B"/>
                  </a:solidFill>
                </a:rPr>
                <a:t>Report + GitHub</a:t>
              </a:r>
              <a:endParaRPr lang="en-US" sz="1600" dirty="0">
                <a:solidFill>
                  <a:srgbClr val="64748B"/>
                </a:solidFill>
              </a:endParaRPr>
            </a:p>
          </p:txBody>
        </p:sp>
        <p:sp>
          <p:nvSpPr>
            <p:cNvPr id="62" name="Text 60"/>
            <p:cNvSpPr/>
            <p:nvPr/>
          </p:nvSpPr>
          <p:spPr>
            <a:xfrm>
              <a:off x="8266176" y="4480560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IEEE report · github.com/vjnitin312/da377</a:t>
              </a:r>
              <a:endParaRPr lang="en-US" sz="1400" dirty="0"/>
            </a:p>
          </p:txBody>
        </p:sp>
      </p:grpSp>
      <p:sp>
        <p:nvSpPr>
          <p:cNvPr id="64" name="Text 6">
            <a:extLst>
              <a:ext uri="{FF2B5EF4-FFF2-40B4-BE49-F238E27FC236}">
                <a16:creationId xmlns:a16="http://schemas.microsoft.com/office/drawing/2014/main" id="{9E2F4D66-FD2E-8663-64CE-633DC34D688A}"/>
              </a:ext>
            </a:extLst>
          </p:cNvPr>
          <p:cNvSpPr/>
          <p:nvPr/>
        </p:nvSpPr>
        <p:spPr>
          <a:xfrm>
            <a:off x="179832" y="1219071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A2240"/>
                </a:solidFill>
              </a:rPr>
              <a:t>9-Phase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Results &amp; Outputs — Temperature &amp; Monsoon</a:t>
            </a:r>
          </a:p>
        </p:txBody>
      </p:sp>
      <p:sp>
        <p:nvSpPr>
          <p:cNvPr id="6" name="Text 4"/>
          <p:cNvSpPr/>
          <p:nvPr/>
        </p:nvSpPr>
        <p:spPr>
          <a:xfrm>
            <a:off x="9921240" y="219456"/>
            <a:ext cx="2057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240"/>
                </a:solidFill>
              </a:rPr>
              <a:t>5:00 – 7:30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1024128"/>
            <a:ext cx="2834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1024128"/>
            <a:ext cx="2834640" cy="6400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133856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5A2B"/>
                </a:solidFill>
              </a:rPr>
              <a:t>31.79°C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92608" y="1671523"/>
            <a:ext cx="283464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Chennai · hottest city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91256" y="1024128"/>
            <a:ext cx="2834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91256" y="1024128"/>
            <a:ext cx="28346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91256" y="1133856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28.45°C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191256" y="1671523"/>
            <a:ext cx="283464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Bangalore · coolest city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9904" y="1024128"/>
            <a:ext cx="2834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9904" y="1024128"/>
            <a:ext cx="2834640" cy="64008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9904" y="1133856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2240"/>
                </a:solidFill>
              </a:rPr>
              <a:t>40,904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089904" y="1671523"/>
            <a:ext cx="283464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Daily records collected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88552" y="1024128"/>
            <a:ext cx="2834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88552" y="1024128"/>
            <a:ext cx="2834640" cy="64008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88552" y="1133856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8952A"/>
                </a:solidFill>
              </a:rPr>
              <a:t>14 years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988552" y="1671523"/>
            <a:ext cx="283464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2010 – 2023 coverage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4688" y="22402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240"/>
                </a:solidFill>
              </a:rPr>
              <a:t>Yearly Avg Max Temperature by City</a:t>
            </a:r>
            <a:endParaRPr lang="en-US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606040"/>
            <a:ext cx="5852160" cy="294436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432040" y="22402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Monthly Rainfall — Monsoon Pattern</a:t>
            </a:r>
            <a:endParaRPr lang="en-US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606040"/>
            <a:ext cx="5577840" cy="2944368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292608" y="5687568"/>
            <a:ext cx="11612880" cy="86868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75488" y="5724144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952A"/>
                </a:solidFill>
              </a:rPr>
              <a:t>Key insight: </a:t>
            </a:r>
            <a:r>
              <a:rPr lang="en-US" sz="1600" dirty="0">
                <a:solidFill>
                  <a:srgbClr val="CBD5E1"/>
                </a:solidFill>
              </a:rPr>
              <a:t>Mumbai peaks at </a:t>
            </a:r>
            <a:r>
              <a:rPr lang="en-US" sz="1600" b="1" dirty="0">
                <a:solidFill>
                  <a:srgbClr val="B8952A"/>
                </a:solidFill>
              </a:rPr>
              <a:t>23 mm/day</a:t>
            </a:r>
            <a:r>
              <a:rPr lang="en-US" sz="1600" dirty="0">
                <a:solidFill>
                  <a:srgbClr val="CBD5E1"/>
                </a:solidFill>
              </a:rPr>
              <a:t> in July (Western Ghats orographic effect). Chennai &amp; Coimbatore follow the </a:t>
            </a:r>
            <a:r>
              <a:rPr lang="en-US" sz="1600" b="1" dirty="0">
                <a:solidFill>
                  <a:srgbClr val="B8952A"/>
                </a:solidFill>
              </a:rPr>
              <a:t>Northeast Monsoon</a:t>
            </a:r>
            <a:r>
              <a:rPr lang="en-US" sz="1600" dirty="0">
                <a:solidFill>
                  <a:srgbClr val="CBD5E1"/>
                </a:solidFill>
              </a:rPr>
              <a:t> — onset August, peak November — opposite to all other cities.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Results &amp; Outputs — Statistical Analysis</a:t>
            </a:r>
          </a:p>
        </p:txBody>
      </p:sp>
      <p:sp>
        <p:nvSpPr>
          <p:cNvPr id="6" name="Text 4"/>
          <p:cNvSpPr/>
          <p:nvPr/>
        </p:nvSpPr>
        <p:spPr>
          <a:xfrm>
            <a:off x="9921240" y="219456"/>
            <a:ext cx="2057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240"/>
                </a:solidFill>
              </a:rPr>
              <a:t>5:00 – 7:30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29317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Pearson Correlation Matrix</a:t>
            </a:r>
            <a:endParaRPr lang="en-US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1" y="1781987"/>
            <a:ext cx="5782305" cy="485655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89320" y="1024128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Top correlations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CF35409-F964-3491-ED3C-E45751D9613D}"/>
              </a:ext>
            </a:extLst>
          </p:cNvPr>
          <p:cNvGrpSpPr/>
          <p:nvPr/>
        </p:nvGrpSpPr>
        <p:grpSpPr>
          <a:xfrm>
            <a:off x="5989319" y="1426465"/>
            <a:ext cx="6080513" cy="2199028"/>
            <a:chOff x="5989320" y="1426464"/>
            <a:chExt cx="5993892" cy="249595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E5AD87F-9432-1886-909C-D068F7B236F1}"/>
                </a:ext>
              </a:extLst>
            </p:cNvPr>
            <p:cNvGrpSpPr/>
            <p:nvPr/>
          </p:nvGrpSpPr>
          <p:grpSpPr>
            <a:xfrm>
              <a:off x="5989320" y="1426464"/>
              <a:ext cx="5989320" cy="722376"/>
              <a:chOff x="5989320" y="1426464"/>
              <a:chExt cx="5897880" cy="1078992"/>
            </a:xfrm>
          </p:grpSpPr>
          <p:sp>
            <p:nvSpPr>
              <p:cNvPr id="11" name="Shape 8"/>
              <p:cNvSpPr/>
              <p:nvPr/>
            </p:nvSpPr>
            <p:spPr>
              <a:xfrm>
                <a:off x="5989320" y="1426464"/>
                <a:ext cx="5897880" cy="107899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8000"/>
                  </a:srgbClr>
                </a:outerShdw>
              </a:effectLst>
            </p:spPr>
          </p:sp>
          <p:sp>
            <p:nvSpPr>
              <p:cNvPr id="12" name="Shape 9"/>
              <p:cNvSpPr/>
              <p:nvPr/>
            </p:nvSpPr>
            <p:spPr>
              <a:xfrm>
                <a:off x="5989320" y="1426464"/>
                <a:ext cx="5897880" cy="64008"/>
              </a:xfrm>
              <a:prstGeom prst="rect">
                <a:avLst/>
              </a:prstGeom>
              <a:solidFill>
                <a:srgbClr val="E05A2B"/>
              </a:solidFill>
              <a:ln w="12700">
                <a:solidFill>
                  <a:srgbClr val="E05A2B"/>
                </a:solidFill>
                <a:prstDash val="solid"/>
              </a:ln>
            </p:spPr>
          </p:sp>
          <p:sp>
            <p:nvSpPr>
              <p:cNvPr id="13" name="Text 10"/>
              <p:cNvSpPr/>
              <p:nvPr/>
            </p:nvSpPr>
            <p:spPr>
              <a:xfrm>
                <a:off x="6144768" y="1536192"/>
                <a:ext cx="109728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E05A2B"/>
                    </a:solidFill>
                  </a:rPr>
                  <a:t>-0.81</a:t>
                </a:r>
                <a:endParaRPr lang="en-US" sz="2200" dirty="0"/>
              </a:p>
            </p:txBody>
          </p:sp>
          <p:sp>
            <p:nvSpPr>
              <p:cNvPr id="14" name="Text 11"/>
              <p:cNvSpPr/>
              <p:nvPr/>
            </p:nvSpPr>
            <p:spPr>
              <a:xfrm>
                <a:off x="7333488" y="1536192"/>
                <a:ext cx="438912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400" b="1" dirty="0">
                    <a:solidFill>
                      <a:srgbClr val="E05A2B"/>
                    </a:solidFill>
                  </a:rPr>
                  <a:t>temp_range  ↔  humidity</a:t>
                </a:r>
              </a:p>
            </p:txBody>
          </p:sp>
          <p:sp>
            <p:nvSpPr>
              <p:cNvPr id="15" name="Text 12"/>
              <p:cNvSpPr/>
              <p:nvPr/>
            </p:nvSpPr>
            <p:spPr>
              <a:xfrm>
                <a:off x="6144768" y="2084832"/>
                <a:ext cx="557784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64748B"/>
                    </a:solidFill>
                  </a:rPr>
                  <a:t>Dominant signal: humid days shrink day–night temperature gap.</a:t>
                </a:r>
                <a:endParaRPr lang="en-US" sz="1200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CBE90F1-B29C-9828-6D20-30CD7E325BFB}"/>
                </a:ext>
              </a:extLst>
            </p:cNvPr>
            <p:cNvGrpSpPr/>
            <p:nvPr/>
          </p:nvGrpSpPr>
          <p:grpSpPr>
            <a:xfrm>
              <a:off x="5989320" y="2240601"/>
              <a:ext cx="5993892" cy="795528"/>
              <a:chOff x="5989320" y="2633472"/>
              <a:chExt cx="5897880" cy="1078992"/>
            </a:xfrm>
          </p:grpSpPr>
          <p:sp>
            <p:nvSpPr>
              <p:cNvPr id="16" name="Shape 13"/>
              <p:cNvSpPr/>
              <p:nvPr/>
            </p:nvSpPr>
            <p:spPr>
              <a:xfrm>
                <a:off x="5989320" y="2633472"/>
                <a:ext cx="5897880" cy="107899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8000"/>
                  </a:srgbClr>
                </a:outerShdw>
              </a:effectLst>
            </p:spPr>
          </p:sp>
          <p:sp>
            <p:nvSpPr>
              <p:cNvPr id="17" name="Shape 14"/>
              <p:cNvSpPr/>
              <p:nvPr/>
            </p:nvSpPr>
            <p:spPr>
              <a:xfrm>
                <a:off x="5989320" y="2633472"/>
                <a:ext cx="5897880" cy="64008"/>
              </a:xfrm>
              <a:prstGeom prst="rect">
                <a:avLst/>
              </a:prstGeom>
              <a:solidFill>
                <a:srgbClr val="0D9488"/>
              </a:solidFill>
              <a:ln w="12700">
                <a:solidFill>
                  <a:srgbClr val="0D9488"/>
                </a:solidFill>
                <a:prstDash val="solid"/>
              </a:ln>
            </p:spPr>
          </p:sp>
          <p:sp>
            <p:nvSpPr>
              <p:cNvPr id="18" name="Text 15"/>
              <p:cNvSpPr/>
              <p:nvPr/>
            </p:nvSpPr>
            <p:spPr>
              <a:xfrm>
                <a:off x="6144768" y="2743200"/>
                <a:ext cx="109728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D9488"/>
                    </a:solidFill>
                  </a:rPr>
                  <a:t>+0.72</a:t>
                </a:r>
                <a:endParaRPr lang="en-US" sz="2200" dirty="0"/>
              </a:p>
            </p:txBody>
          </p:sp>
          <p:sp>
            <p:nvSpPr>
              <p:cNvPr id="19" name="Text 16"/>
              <p:cNvSpPr/>
              <p:nvPr/>
            </p:nvSpPr>
            <p:spPr>
              <a:xfrm>
                <a:off x="7333488" y="2743200"/>
                <a:ext cx="438912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400" b="1" dirty="0">
                    <a:solidFill>
                      <a:srgbClr val="0D9488"/>
                    </a:solidFill>
                  </a:rPr>
                  <a:t>temp_max  ↔  </a:t>
                </a:r>
                <a:r>
                  <a:rPr lang="en-US" sz="1400" b="1" dirty="0" err="1">
                    <a:solidFill>
                      <a:srgbClr val="0D9488"/>
                    </a:solidFill>
                  </a:rPr>
                  <a:t>temp_min</a:t>
                </a:r>
                <a:endParaRPr lang="en-US" sz="1400" b="1" dirty="0">
                  <a:solidFill>
                    <a:srgbClr val="0D9488"/>
                  </a:solidFill>
                </a:endParaRPr>
              </a:p>
            </p:txBody>
          </p:sp>
          <p:sp>
            <p:nvSpPr>
              <p:cNvPr id="20" name="Text 17"/>
              <p:cNvSpPr/>
              <p:nvPr/>
            </p:nvSpPr>
            <p:spPr>
              <a:xfrm>
                <a:off x="6144768" y="3291840"/>
                <a:ext cx="557784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64748B"/>
                    </a:solidFill>
                  </a:rPr>
                  <a:t>Shared regional atmospheric forcing across all 8 cities.</a:t>
                </a:r>
                <a:endParaRPr lang="en-US" sz="1200" dirty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68B1B4D-3894-EAE6-4AA9-3CC832A1F1B4}"/>
                </a:ext>
              </a:extLst>
            </p:cNvPr>
            <p:cNvGrpSpPr/>
            <p:nvPr/>
          </p:nvGrpSpPr>
          <p:grpSpPr>
            <a:xfrm>
              <a:off x="5989320" y="3132989"/>
              <a:ext cx="5993892" cy="789432"/>
              <a:chOff x="5989320" y="3840480"/>
              <a:chExt cx="5897880" cy="1078992"/>
            </a:xfrm>
          </p:grpSpPr>
          <p:sp>
            <p:nvSpPr>
              <p:cNvPr id="21" name="Shape 18"/>
              <p:cNvSpPr/>
              <p:nvPr/>
            </p:nvSpPr>
            <p:spPr>
              <a:xfrm>
                <a:off x="5989320" y="3840480"/>
                <a:ext cx="5897880" cy="107899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8000"/>
                  </a:srgbClr>
                </a:outerShdw>
              </a:effectLst>
            </p:spPr>
          </p:sp>
          <p:sp>
            <p:nvSpPr>
              <p:cNvPr id="22" name="Shape 19"/>
              <p:cNvSpPr/>
              <p:nvPr/>
            </p:nvSpPr>
            <p:spPr>
              <a:xfrm>
                <a:off x="5989320" y="3840480"/>
                <a:ext cx="5897880" cy="64008"/>
              </a:xfrm>
              <a:prstGeom prst="rect">
                <a:avLst/>
              </a:prstGeom>
              <a:solidFill>
                <a:srgbClr val="B8952A"/>
              </a:solidFill>
              <a:ln w="12700">
                <a:solidFill>
                  <a:srgbClr val="B8952A"/>
                </a:solidFill>
                <a:prstDash val="solid"/>
              </a:ln>
            </p:spPr>
          </p:sp>
          <p:sp>
            <p:nvSpPr>
              <p:cNvPr id="23" name="Text 20"/>
              <p:cNvSpPr/>
              <p:nvPr/>
            </p:nvSpPr>
            <p:spPr>
              <a:xfrm>
                <a:off x="6144768" y="3950208"/>
                <a:ext cx="109728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B8952A"/>
                    </a:solidFill>
                  </a:rPr>
                  <a:t>+0.45</a:t>
                </a:r>
                <a:endParaRPr lang="en-US" sz="2200" dirty="0"/>
              </a:p>
            </p:txBody>
          </p:sp>
          <p:sp>
            <p:nvSpPr>
              <p:cNvPr id="24" name="Text 21"/>
              <p:cNvSpPr/>
              <p:nvPr/>
            </p:nvSpPr>
            <p:spPr>
              <a:xfrm>
                <a:off x="7333488" y="3950208"/>
                <a:ext cx="438912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400" b="1" dirty="0">
                    <a:solidFill>
                      <a:srgbClr val="B8952A"/>
                    </a:solidFill>
                  </a:rPr>
                  <a:t>precipitation  ↔  humidity</a:t>
                </a:r>
              </a:p>
            </p:txBody>
          </p:sp>
          <p:sp>
            <p:nvSpPr>
              <p:cNvPr id="25" name="Text 22"/>
              <p:cNvSpPr/>
              <p:nvPr/>
            </p:nvSpPr>
            <p:spPr>
              <a:xfrm>
                <a:off x="6144768" y="4498848"/>
                <a:ext cx="557784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64748B"/>
                    </a:solidFill>
                  </a:rPr>
                  <a:t>Higher humidity precedes rainfall — physically expected.</a:t>
                </a:r>
                <a:endParaRPr lang="en-US" sz="1200" dirty="0"/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7D386C0-1C0E-C66D-7E57-A7298BE40FE2}"/>
              </a:ext>
            </a:extLst>
          </p:cNvPr>
          <p:cNvGrpSpPr/>
          <p:nvPr/>
        </p:nvGrpSpPr>
        <p:grpSpPr>
          <a:xfrm>
            <a:off x="5989320" y="3741366"/>
            <a:ext cx="6038088" cy="2897180"/>
            <a:chOff x="5989320" y="5092733"/>
            <a:chExt cx="5897880" cy="1372075"/>
          </a:xfrm>
        </p:grpSpPr>
        <p:sp>
          <p:nvSpPr>
            <p:cNvPr id="26" name="Text 23"/>
            <p:cNvSpPr/>
            <p:nvPr/>
          </p:nvSpPr>
          <p:spPr>
            <a:xfrm>
              <a:off x="5989320" y="5092733"/>
              <a:ext cx="5897880" cy="1337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A2240"/>
                  </a:solidFill>
                </a:rPr>
                <a:t>115-Year All-India Rainfall Trend (1901–2015)</a:t>
              </a:r>
              <a:endParaRPr lang="en-US" dirty="0"/>
            </a:p>
          </p:txBody>
        </p:sp>
        <p:pic>
          <p:nvPicPr>
            <p:cNvPr id="27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5989320" y="5271802"/>
              <a:ext cx="5897880" cy="119300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Live Demo — Streamlit Dashboard &amp; Folium Maps</a:t>
            </a:r>
          </a:p>
        </p:txBody>
      </p:sp>
      <p:sp>
        <p:nvSpPr>
          <p:cNvPr id="6" name="Text 4"/>
          <p:cNvSpPr/>
          <p:nvPr/>
        </p:nvSpPr>
        <p:spPr>
          <a:xfrm>
            <a:off x="9921240" y="219456"/>
            <a:ext cx="2057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240"/>
                </a:solidFill>
              </a:rPr>
              <a:t>5:00 – 7:30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276311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Streamlit Dashboard  —  localhost:8501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A349A1C-BDDF-FC54-6EDE-626D94F65FE7}"/>
              </a:ext>
            </a:extLst>
          </p:cNvPr>
          <p:cNvGrpSpPr/>
          <p:nvPr/>
        </p:nvGrpSpPr>
        <p:grpSpPr>
          <a:xfrm>
            <a:off x="292607" y="1706079"/>
            <a:ext cx="5861297" cy="3913632"/>
            <a:chOff x="292608" y="1706079"/>
            <a:chExt cx="5760720" cy="3831336"/>
          </a:xfrm>
        </p:grpSpPr>
        <p:sp>
          <p:nvSpPr>
            <p:cNvPr id="10" name="Shape 8"/>
            <p:cNvSpPr/>
            <p:nvPr/>
          </p:nvSpPr>
          <p:spPr>
            <a:xfrm>
              <a:off x="292608" y="1706079"/>
              <a:ext cx="576072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384048" y="1870671"/>
              <a:ext cx="658368" cy="502920"/>
            </a:xfrm>
            <a:prstGeom prst="roundRect">
              <a:avLst>
                <a:gd name="adj" fmla="val 14545"/>
              </a:avLst>
            </a:prstGeom>
            <a:solidFill>
              <a:srgbClr val="0A2240"/>
            </a:solidFill>
            <a:ln w="12700">
              <a:solidFill>
                <a:srgbClr val="0A2240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84048" y="1870671"/>
              <a:ext cx="65836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 b="1" dirty="0">
                  <a:solidFill>
                    <a:srgbClr val="0D9488"/>
                  </a:solidFill>
                </a:rPr>
                <a:t>Tab 1</a:t>
              </a:r>
            </a:p>
          </p:txBody>
        </p:sp>
        <p:sp>
          <p:nvSpPr>
            <p:cNvPr id="13" name="Text 11"/>
            <p:cNvSpPr/>
            <p:nvPr/>
          </p:nvSpPr>
          <p:spPr>
            <a:xfrm>
              <a:off x="1133856" y="1779231"/>
              <a:ext cx="47548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9488"/>
                  </a:solidFill>
                </a:rPr>
                <a:t>Temperature</a:t>
              </a:r>
            </a:p>
          </p:txBody>
        </p:sp>
        <p:sp>
          <p:nvSpPr>
            <p:cNvPr id="14" name="Text 12"/>
            <p:cNvSpPr/>
            <p:nvPr/>
          </p:nvSpPr>
          <p:spPr>
            <a:xfrm>
              <a:off x="1133856" y="2163279"/>
              <a:ext cx="4754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</a:rPr>
                <a:t>Yearly trends · seasonal breakdown · heatwave detector</a:t>
              </a:r>
              <a:endParaRPr lang="en-US" sz="12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292608" y="2693631"/>
              <a:ext cx="576072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384048" y="2858223"/>
              <a:ext cx="658368" cy="502920"/>
            </a:xfrm>
            <a:prstGeom prst="roundRect">
              <a:avLst>
                <a:gd name="adj" fmla="val 14545"/>
              </a:avLst>
            </a:prstGeom>
            <a:solidFill>
              <a:srgbClr val="0A2240"/>
            </a:solidFill>
            <a:ln w="12700">
              <a:solidFill>
                <a:srgbClr val="0A2240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384048" y="2858223"/>
              <a:ext cx="65836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 b="1" dirty="0">
                  <a:solidFill>
                    <a:srgbClr val="E05A2B"/>
                  </a:solidFill>
                </a:rPr>
                <a:t>Tab 2</a:t>
              </a:r>
            </a:p>
          </p:txBody>
        </p:sp>
        <p:sp>
          <p:nvSpPr>
            <p:cNvPr id="18" name="Text 16"/>
            <p:cNvSpPr/>
            <p:nvPr/>
          </p:nvSpPr>
          <p:spPr>
            <a:xfrm>
              <a:off x="1133856" y="2766783"/>
              <a:ext cx="47548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E05A2B"/>
                  </a:solidFill>
                </a:rPr>
                <a:t>Rainfall</a:t>
              </a:r>
            </a:p>
          </p:txBody>
        </p:sp>
        <p:sp>
          <p:nvSpPr>
            <p:cNvPr id="19" name="Text 17"/>
            <p:cNvSpPr/>
            <p:nvPr/>
          </p:nvSpPr>
          <p:spPr>
            <a:xfrm>
              <a:off x="1133856" y="3150831"/>
              <a:ext cx="4754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</a:rPr>
                <a:t>Monsoon pattern · 115-year trend · decade bar chart</a:t>
              </a:r>
              <a:endParaRPr lang="en-US" sz="12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292608" y="3681183"/>
              <a:ext cx="576072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384048" y="3845775"/>
              <a:ext cx="658368" cy="502920"/>
            </a:xfrm>
            <a:prstGeom prst="roundRect">
              <a:avLst>
                <a:gd name="adj" fmla="val 14545"/>
              </a:avLst>
            </a:prstGeom>
            <a:solidFill>
              <a:srgbClr val="0A2240"/>
            </a:solidFill>
            <a:ln w="12700">
              <a:solidFill>
                <a:srgbClr val="0A2240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384048" y="3845775"/>
              <a:ext cx="65836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 b="1" dirty="0">
                  <a:solidFill>
                    <a:srgbClr val="B8952A"/>
                  </a:solidFill>
                </a:rPr>
                <a:t>Tab 3</a:t>
              </a:r>
            </a:p>
          </p:txBody>
        </p:sp>
        <p:sp>
          <p:nvSpPr>
            <p:cNvPr id="23" name="Text 21"/>
            <p:cNvSpPr/>
            <p:nvPr/>
          </p:nvSpPr>
          <p:spPr>
            <a:xfrm>
              <a:off x="1133856" y="3754335"/>
              <a:ext cx="47548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B8952A"/>
                  </a:solidFill>
                </a:rPr>
                <a:t>Climate Stats</a:t>
              </a:r>
            </a:p>
          </p:txBody>
        </p:sp>
        <p:sp>
          <p:nvSpPr>
            <p:cNvPr id="24" name="Text 22"/>
            <p:cNvSpPr/>
            <p:nvPr/>
          </p:nvSpPr>
          <p:spPr>
            <a:xfrm>
              <a:off x="1133856" y="4138383"/>
              <a:ext cx="4754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</a:rPr>
                <a:t>Correlation heatmap · humidity scatter · extreme rain</a:t>
              </a:r>
              <a:endParaRPr lang="en-US" sz="12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292608" y="4668735"/>
              <a:ext cx="576072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384048" y="4833327"/>
              <a:ext cx="658368" cy="502920"/>
            </a:xfrm>
            <a:prstGeom prst="roundRect">
              <a:avLst>
                <a:gd name="adj" fmla="val 14545"/>
              </a:avLst>
            </a:prstGeom>
            <a:solidFill>
              <a:srgbClr val="0A2240"/>
            </a:solidFill>
            <a:ln w="12700">
              <a:solidFill>
                <a:srgbClr val="0A2240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384048" y="4833327"/>
              <a:ext cx="65836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 b="1" dirty="0">
                  <a:solidFill>
                    <a:srgbClr val="B91C1C"/>
                  </a:solidFill>
                </a:rPr>
                <a:t>Tab 4</a:t>
              </a:r>
            </a:p>
          </p:txBody>
        </p:sp>
        <p:sp>
          <p:nvSpPr>
            <p:cNvPr id="28" name="Text 26"/>
            <p:cNvSpPr/>
            <p:nvPr/>
          </p:nvSpPr>
          <p:spPr>
            <a:xfrm>
              <a:off x="1133856" y="4741887"/>
              <a:ext cx="47548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B91C1C"/>
                  </a:solidFill>
                </a:rPr>
                <a:t>Raw Data</a:t>
              </a:r>
            </a:p>
          </p:txBody>
        </p:sp>
        <p:sp>
          <p:nvSpPr>
            <p:cNvPr id="29" name="Text 27"/>
            <p:cNvSpPr/>
            <p:nvPr/>
          </p:nvSpPr>
          <p:spPr>
            <a:xfrm>
              <a:off x="1133856" y="5125935"/>
              <a:ext cx="4754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</a:rPr>
                <a:t>Full table · live filters · CSV download button</a:t>
              </a:r>
              <a:endParaRPr lang="en-US" sz="1200" dirty="0"/>
            </a:p>
          </p:txBody>
        </p:sp>
      </p:grpSp>
      <p:sp>
        <p:nvSpPr>
          <p:cNvPr id="30" name="Shape 28"/>
          <p:cNvSpPr/>
          <p:nvPr/>
        </p:nvSpPr>
        <p:spPr>
          <a:xfrm>
            <a:off x="6263640" y="1248879"/>
            <a:ext cx="0" cy="450000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1276311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5 Interactive Folium Maps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400800" y="1706079"/>
            <a:ext cx="5486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1706079"/>
            <a:ext cx="91440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1751799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9488"/>
                </a:solidFill>
              </a:rPr>
              <a:t>City Climate Markers</a:t>
            </a:r>
          </a:p>
        </p:txBody>
      </p:sp>
      <p:sp>
        <p:nvSpPr>
          <p:cNvPr id="35" name="Text 33"/>
          <p:cNvSpPr/>
          <p:nvPr/>
        </p:nvSpPr>
        <p:spPr>
          <a:xfrm>
            <a:off x="6565392" y="2071839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Click any city → popup with full climate stats card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0" y="2510751"/>
            <a:ext cx="5486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2510751"/>
            <a:ext cx="91440" cy="694944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65392" y="2556471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05A2B"/>
                </a:solidFill>
              </a:rPr>
              <a:t>Temperature Bubble Map</a:t>
            </a:r>
          </a:p>
        </p:txBody>
      </p:sp>
      <p:sp>
        <p:nvSpPr>
          <p:cNvPr id="39" name="Text 37"/>
          <p:cNvSpPr/>
          <p:nvPr/>
        </p:nvSpPr>
        <p:spPr>
          <a:xfrm>
            <a:off x="6565392" y="2876511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Bubble size = avg temp · color = hot/warm/cool scale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0" y="3315423"/>
            <a:ext cx="5486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0" y="3315423"/>
            <a:ext cx="91440" cy="694944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65392" y="3361143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B8952A"/>
                </a:solidFill>
              </a:rPr>
              <a:t>Rainfall Bubble Map</a:t>
            </a:r>
          </a:p>
        </p:txBody>
      </p:sp>
      <p:sp>
        <p:nvSpPr>
          <p:cNvPr id="43" name="Text 41"/>
          <p:cNvSpPr/>
          <p:nvPr/>
        </p:nvSpPr>
        <p:spPr>
          <a:xfrm>
            <a:off x="6565392" y="3681183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Bubble size = avg daily rainfall · Mumbai dominates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00800" y="4120095"/>
            <a:ext cx="5486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4120095"/>
            <a:ext cx="91440" cy="69494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65392" y="4165815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</a:rPr>
              <a:t>Heatwave Risk Map</a:t>
            </a:r>
            <a:endParaRPr lang="en-US" sz="1400" dirty="0">
              <a:solidFill>
                <a:srgbClr val="B91C1C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6565392" y="4485855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Dark tile layer · red circles sized by heatwave count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00800" y="4924767"/>
            <a:ext cx="5486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0" y="4924767"/>
            <a:ext cx="91440" cy="694944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65392" y="4970487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A2240"/>
                </a:solidFill>
              </a:rPr>
              <a:t>Combined Layer Map</a:t>
            </a:r>
          </a:p>
        </p:txBody>
      </p:sp>
      <p:sp>
        <p:nvSpPr>
          <p:cNvPr id="51" name="Text 49"/>
          <p:cNvSpPr/>
          <p:nvPr/>
        </p:nvSpPr>
        <p:spPr>
          <a:xfrm>
            <a:off x="6565392" y="5290527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Toggle temperature heatmap, rainfall bubbles, markers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92608" y="6291072"/>
            <a:ext cx="11612880" cy="438912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2608" y="6291072"/>
            <a:ext cx="11612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B8952A"/>
                </a:solidFill>
              </a:rPr>
              <a:t>Run: streamlit run app.py  ·  Maps in: maps/01_city_climate_markers.html  ·  github.com/vjnitin312/da377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Evaluation Metrics — What the Numbers Mean</a:t>
            </a:r>
          </a:p>
        </p:txBody>
      </p:sp>
      <p:sp>
        <p:nvSpPr>
          <p:cNvPr id="6" name="Text 4"/>
          <p:cNvSpPr/>
          <p:nvPr/>
        </p:nvSpPr>
        <p:spPr>
          <a:xfrm>
            <a:off x="9921240" y="219456"/>
            <a:ext cx="2057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240"/>
                </a:solidFill>
              </a:rPr>
              <a:t>7:30 – 9:00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</a:rPr>
              <a:t>Prophet uncertainty bands · Heatwave thresholds · Monsoon onset index · Decade-wise rainfall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2608" y="144475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Mumbai — 90-Day Temperature Forecast</a:t>
            </a:r>
            <a:endParaRPr lang="en-US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801368"/>
            <a:ext cx="5852160" cy="23957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92608" y="431596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Decade-wise All-India Rainfall</a:t>
            </a:r>
            <a:endParaRPr lang="en-US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4663440"/>
            <a:ext cx="5852160" cy="18470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92240" y="144475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How to interpret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6492240" y="1847088"/>
            <a:ext cx="5394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847088"/>
            <a:ext cx="5394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56832" y="19568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9488"/>
                </a:solidFill>
              </a:rPr>
              <a:t>±2–4°C</a:t>
            </a: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8119872" y="198729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9488"/>
                </a:solidFill>
              </a:rPr>
              <a:t>Prophet Uncertainty Band</a:t>
            </a:r>
          </a:p>
        </p:txBody>
      </p:sp>
      <p:sp>
        <p:nvSpPr>
          <p:cNvPr id="18" name="Text 14"/>
          <p:cNvSpPr/>
          <p:nvPr/>
        </p:nvSpPr>
        <p:spPr>
          <a:xfrm>
            <a:off x="6656832" y="2420112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</a:rPr>
              <a:t>Continental cities (Delhi, Jaipur): tight band </a:t>
            </a:r>
            <a:r>
              <a:rPr lang="en-US" sz="1200">
                <a:solidFill>
                  <a:srgbClr val="64748B"/>
                </a:solidFill>
              </a:rPr>
              <a:t>→ reliable seasonal pattern.            Coastal </a:t>
            </a:r>
            <a:r>
              <a:rPr lang="en-US" sz="1200" dirty="0">
                <a:solidFill>
                  <a:srgbClr val="64748B"/>
                </a:solidFill>
              </a:rPr>
              <a:t>(Mumbai): wider ±4–6°C </a:t>
            </a:r>
            <a:r>
              <a:rPr lang="en-US" sz="1200">
                <a:solidFill>
                  <a:srgbClr val="64748B"/>
                </a:solidFill>
              </a:rPr>
              <a:t>due to sea influence.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19" name="Shape 15"/>
          <p:cNvSpPr/>
          <p:nvPr/>
        </p:nvSpPr>
        <p:spPr>
          <a:xfrm>
            <a:off x="6492240" y="3035808"/>
            <a:ext cx="5394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92240" y="3035808"/>
            <a:ext cx="5394960" cy="6400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656832" y="31455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05A2B"/>
                </a:solidFill>
              </a:rPr>
              <a:t>41.1°C</a:t>
            </a: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8119872" y="317601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05A2B"/>
                </a:solidFill>
              </a:rPr>
              <a:t>Heatwave Threshold (P₉₅)</a:t>
            </a:r>
          </a:p>
        </p:txBody>
      </p:sp>
      <p:sp>
        <p:nvSpPr>
          <p:cNvPr id="23" name="Text 19"/>
          <p:cNvSpPr/>
          <p:nvPr/>
        </p:nvSpPr>
        <p:spPr>
          <a:xfrm>
            <a:off x="6656832" y="3608832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64748B"/>
                </a:solidFill>
              </a:rPr>
              <a:t>is Delhi threshold. </a:t>
            </a:r>
            <a:r>
              <a:rPr lang="en-US" sz="1200" dirty="0">
                <a:solidFill>
                  <a:srgbClr val="64748B"/>
                </a:solidFill>
              </a:rPr>
              <a:t>Bangalore</a:t>
            </a:r>
            <a:r>
              <a:rPr lang="en-US" sz="1200">
                <a:solidFill>
                  <a:srgbClr val="64748B"/>
                </a:solidFill>
              </a:rPr>
              <a:t>: 34.1°C. </a:t>
            </a:r>
            <a:r>
              <a:rPr lang="en-US" sz="1200" dirty="0">
                <a:solidFill>
                  <a:srgbClr val="64748B"/>
                </a:solidFill>
              </a:rPr>
              <a:t>Mumbai: 54 heatwave days in 2023 — highest single-year </a:t>
            </a:r>
            <a:r>
              <a:rPr lang="en-US" sz="1200">
                <a:solidFill>
                  <a:srgbClr val="64748B"/>
                </a:solidFill>
              </a:rPr>
              <a:t>reading in 14 years.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24" name="Shape 20"/>
          <p:cNvSpPr/>
          <p:nvPr/>
        </p:nvSpPr>
        <p:spPr>
          <a:xfrm>
            <a:off x="6492240" y="4224528"/>
            <a:ext cx="5394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492240" y="4224528"/>
            <a:ext cx="5394960" cy="64008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656832" y="43342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952A"/>
                </a:solidFill>
              </a:rPr>
              <a:t>&gt; 1.5×</a:t>
            </a: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8119872" y="436473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B8952A"/>
                </a:solidFill>
              </a:rPr>
              <a:t>Monsoon Onset Index</a:t>
            </a:r>
          </a:p>
        </p:txBody>
      </p:sp>
      <p:sp>
        <p:nvSpPr>
          <p:cNvPr id="28" name="Text 24"/>
          <p:cNvSpPr/>
          <p:nvPr/>
        </p:nvSpPr>
        <p:spPr>
          <a:xfrm>
            <a:off x="6656832" y="4797552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</a:rPr>
              <a:t>Monthly ÷ annual daily avg. Chennai onset: August (</a:t>
            </a:r>
            <a:r>
              <a:rPr lang="en-US" sz="1200">
                <a:solidFill>
                  <a:srgbClr val="64748B"/>
                </a:solidFill>
              </a:rPr>
              <a:t>NE monsoon).                            All </a:t>
            </a:r>
            <a:r>
              <a:rPr lang="en-US" sz="1200" dirty="0">
                <a:solidFill>
                  <a:srgbClr val="64748B"/>
                </a:solidFill>
              </a:rPr>
              <a:t>other cities: June–July (</a:t>
            </a:r>
            <a:r>
              <a:rPr lang="en-US" sz="1200">
                <a:solidFill>
                  <a:srgbClr val="64748B"/>
                </a:solidFill>
              </a:rPr>
              <a:t>SW monsoon).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29" name="Shape 25"/>
          <p:cNvSpPr/>
          <p:nvPr/>
        </p:nvSpPr>
        <p:spPr>
          <a:xfrm>
            <a:off x="6492240" y="5413248"/>
            <a:ext cx="5394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492240" y="5413248"/>
            <a:ext cx="5394960" cy="64008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656832" y="552297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-0.31mm/yr</a:t>
            </a: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8119872" y="555345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A2240"/>
                </a:solidFill>
              </a:rPr>
              <a:t>115-Year Regression Slope</a:t>
            </a:r>
          </a:p>
        </p:txBody>
      </p:sp>
      <p:sp>
        <p:nvSpPr>
          <p:cNvPr id="33" name="Text 29"/>
          <p:cNvSpPr/>
          <p:nvPr/>
        </p:nvSpPr>
        <p:spPr>
          <a:xfrm>
            <a:off x="6656832" y="5986272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</a:rPr>
              <a:t>p = 0.47 — not statistically significant individually. But decade table clearly shows 1930s peak (1,485mm) declining to 1,335mm in </a:t>
            </a:r>
            <a:r>
              <a:rPr lang="en-US" sz="1200">
                <a:solidFill>
                  <a:srgbClr val="64748B"/>
                </a:solidFill>
              </a:rPr>
              <a:t>2000s.</a:t>
            </a:r>
            <a:endParaRPr lang="en-US" sz="12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952A"/>
                </a:solidFill>
              </a:rPr>
              <a:t>Wrap Up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Summary · Key Learnings · Future Scope</a:t>
            </a:r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B8952A"/>
                </a:solidFill>
              </a:rPr>
              <a:t>3 Scientific Conclusions</a:t>
            </a:r>
          </a:p>
        </p:txBody>
      </p:sp>
      <p:sp>
        <p:nvSpPr>
          <p:cNvPr id="7" name="Shape 5"/>
          <p:cNvSpPr/>
          <p:nvPr/>
        </p:nvSpPr>
        <p:spPr>
          <a:xfrm>
            <a:off x="457200" y="184708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240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1847088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Humidity is the dominant modulator of diurnal temperature range across Indian cities  (r = −0.81 with temp_range).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62432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24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240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9264" y="2624328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The dual monsoon system leaves a statistically detectable fingerprint — discoverable from raw data alone, without domain encoding.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40156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240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9264" y="3401568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India's wettest decade was the 1930s (1,485mm avg); a sustained post-1960 declining trend is visible in the rolling average.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43159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B8952A"/>
                </a:solidFill>
              </a:rPr>
              <a:t>Future Scope</a:t>
            </a:r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310896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54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9536" y="471424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Extend to all 641 districts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9536" y="492455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using gridded ERA5 for spatial interpolation across India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4754880"/>
            <a:ext cx="310896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4754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11696" y="471424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ENSO &amp; IOD regressors in Prophet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11696" y="492455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to improve seasonal forecast skill beyond 30 days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468112"/>
            <a:ext cx="310896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468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9536" y="54274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Deploy on Streamlit Cloud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59536" y="5637784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public access — no local installation required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5468112"/>
            <a:ext cx="310896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5468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11696" y="54274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Post-2023 live data integration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711696" y="5637784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real-time updates from IMD station observations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6220166"/>
            <a:ext cx="11247120" cy="475488"/>
          </a:xfrm>
          <a:prstGeom prst="roundRect">
            <a:avLst>
              <a:gd name="adj" fmla="val 19231"/>
            </a:avLst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220166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240"/>
                </a:solidFill>
              </a:rPr>
              <a:t>github.com/vjnitin312/da377   ·   n.nitin@op.iitg.ac.in   ·   Nitin Vijay N  |  23035010571  |  DA377  |  Trimester VII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1146</Words>
  <Application>Microsoft Office PowerPoint</Application>
  <PresentationFormat>Widescreen</PresentationFormat>
  <Paragraphs>197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IndiaClimate</dc:title>
  <dc:subject>PptxGenJS Presentation</dc:subject>
  <dc:creator>Nitin Vijay N</dc:creator>
  <cp:lastModifiedBy>Nitin Vijay N</cp:lastModifiedBy>
  <cp:revision>4</cp:revision>
  <dcterms:created xsi:type="dcterms:W3CDTF">2026-04-20T13:13:05Z</dcterms:created>
  <dcterms:modified xsi:type="dcterms:W3CDTF">2026-04-20T20:40:57Z</dcterms:modified>
</cp:coreProperties>
</file>